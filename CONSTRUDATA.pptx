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416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415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7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801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743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455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0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1996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628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306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1777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8265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9529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8296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0612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7050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726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24C813C-327C-40EE-9BAB-0B25E2777C44}" type="datetimeFigureOut">
              <a:rPr lang="es-CO" smtClean="0"/>
              <a:t>5/04/2026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5783B24-DF65-4A26-A6B8-EF4FCA4976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3563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9549CAC-A73C-9D86-5079-39110BAF8B1B}"/>
              </a:ext>
            </a:extLst>
          </p:cNvPr>
          <p:cNvSpPr txBox="1"/>
          <p:nvPr/>
        </p:nvSpPr>
        <p:spPr>
          <a:xfrm>
            <a:off x="0" y="987306"/>
            <a:ext cx="6869663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ConstruData</a:t>
            </a:r>
          </a:p>
          <a:p>
            <a:pPr algn="ctr"/>
            <a:endParaRPr lang="es-ES" dirty="0"/>
          </a:p>
          <a:p>
            <a:pPr algn="ctr">
              <a:spcAft>
                <a:spcPts val="1350"/>
              </a:spcAft>
            </a:pPr>
            <a:r>
              <a:rPr lang="es-ES" dirty="0"/>
              <a:t>Sistema de Gestión de Construcción</a:t>
            </a:r>
          </a:p>
          <a:p>
            <a:pPr algn="ctr">
              <a:spcAft>
                <a:spcPts val="1350"/>
              </a:spcAft>
            </a:pPr>
            <a:endParaRPr lang="es-ES" b="1" dirty="0">
              <a:solidFill>
                <a:srgbClr val="1A3A5C"/>
              </a:solidFill>
              <a:latin typeface="Segoe UI" panose="020B0502040204020203" pitchFamily="34" charset="0"/>
            </a:endParaRPr>
          </a:p>
          <a:p>
            <a:pPr algn="ctr"/>
            <a:r>
              <a:rPr lang="es-ES" dirty="0"/>
              <a:t>Proyecto Académico — Profundización de la POO</a:t>
            </a:r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r>
              <a:rPr lang="es-ES" dirty="0"/>
              <a:t>Estudiante: William </a:t>
            </a:r>
            <a:r>
              <a:rPr lang="es-ES" dirty="0" err="1"/>
              <a:t>Alzate</a:t>
            </a:r>
            <a:r>
              <a:rPr lang="es-ES" dirty="0"/>
              <a:t> Ríos</a:t>
            </a:r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r>
              <a:rPr lang="es-ES" dirty="0"/>
              <a:t>Curso: Técnico en Auxiliar y Análisis y Programación</a:t>
            </a:r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r>
              <a:rPr lang="es-ES" dirty="0"/>
              <a:t>CEFIT · 2026</a:t>
            </a:r>
          </a:p>
        </p:txBody>
      </p:sp>
    </p:spTree>
    <p:extLst>
      <p:ext uri="{BB962C8B-B14F-4D97-AF65-F5344CB8AC3E}">
        <p14:creationId xmlns:p14="http://schemas.microsoft.com/office/powerpoint/2010/main" val="197582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3101566-4E17-6716-485B-B29B370351A8}"/>
              </a:ext>
            </a:extLst>
          </p:cNvPr>
          <p:cNvSpPr txBox="1"/>
          <p:nvPr/>
        </p:nvSpPr>
        <p:spPr>
          <a:xfrm>
            <a:off x="718457" y="1026366"/>
            <a:ext cx="10972800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50"/>
              </a:spcAft>
              <a:buNone/>
            </a:pPr>
            <a:r>
              <a:rPr lang="es-ES" b="1" i="0" cap="all" dirty="0">
                <a:solidFill>
                  <a:srgbClr val="1A3A5C"/>
                </a:solidFill>
                <a:effectLst/>
                <a:latin typeface="Segoe UI" panose="020B0502040204020203" pitchFamily="34" charset="0"/>
              </a:rPr>
              <a:t>ConstruData</a:t>
            </a:r>
          </a:p>
          <a:p>
            <a:pPr algn="l">
              <a:spcAft>
                <a:spcPts val="1350"/>
              </a:spcAft>
              <a:buNone/>
            </a:pPr>
            <a:r>
              <a:rPr lang="es-ES" b="1" i="0" dirty="0">
                <a:solidFill>
                  <a:srgbClr val="1A3A5C"/>
                </a:solidFill>
                <a:effectLst/>
                <a:latin typeface="Segoe UI" panose="020B0502040204020203" pitchFamily="34" charset="0"/>
              </a:rPr>
              <a:t>1. Problemática que Resuelve</a:t>
            </a:r>
          </a:p>
          <a:p>
            <a:pPr algn="l">
              <a:buNone/>
            </a:pPr>
            <a:endParaRPr lang="es-ES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Las empresas de construcción manejan información dispersa en hojas de cálculo, documentos físicos y correos electrónicos, lo que dificulta el acceso rápido y confiable a los datos.</a:t>
            </a:r>
          </a:p>
          <a:p>
            <a:pPr algn="l">
              <a:buNone/>
            </a:pPr>
            <a:endParaRPr lang="es-E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Esta desorganización genera pérdida de información crítica, errores en la planificación de proyectos y retrasos en la toma de decisiones estratégicas.</a:t>
            </a:r>
          </a:p>
          <a:p>
            <a:pPr algn="l">
              <a:buNone/>
            </a:pPr>
            <a:endParaRPr lang="es-E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El control de empleados, materiales y avances de obra se vuelve ineficiente cuando no existe una plataforma centralizada, aumentando los costos operativos.</a:t>
            </a:r>
          </a:p>
          <a:p>
            <a:pPr algn="l">
              <a:buNone/>
            </a:pPr>
            <a:endParaRPr lang="es-E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/>
              <a:t>ConstruData nace como solución integral: centraliza toda la información en un solo sistema digital, permitiendo gestionar proyectos, personal y recursos de manera eficiente, segura y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380124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DD5948D-4547-9A88-BA45-632FA777F824}"/>
              </a:ext>
            </a:extLst>
          </p:cNvPr>
          <p:cNvSpPr txBox="1"/>
          <p:nvPr/>
        </p:nvSpPr>
        <p:spPr>
          <a:xfrm>
            <a:off x="3340359" y="830163"/>
            <a:ext cx="4739951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100"/>
              </a:spcAft>
              <a:buNone/>
            </a:pPr>
            <a:r>
              <a:rPr lang="es-CO" b="1" cap="all" dirty="0" err="1">
                <a:solidFill>
                  <a:srgbClr val="1A3A5C"/>
                </a:solidFill>
                <a:latin typeface="Segoe UI" panose="020B0502040204020203" pitchFamily="34" charset="0"/>
              </a:rPr>
              <a:t>ConstruData</a:t>
            </a:r>
            <a:endParaRPr lang="es-CO" b="1" cap="all" dirty="0">
              <a:solidFill>
                <a:srgbClr val="1A3A5C"/>
              </a:solidFill>
              <a:latin typeface="Segoe UI" panose="020B0502040204020203" pitchFamily="34" charset="0"/>
            </a:endParaRPr>
          </a:p>
          <a:p>
            <a:pPr algn="ctr">
              <a:spcAft>
                <a:spcPts val="2100"/>
              </a:spcAft>
              <a:buNone/>
            </a:pPr>
            <a:r>
              <a:rPr lang="es-CO" b="1" dirty="0">
                <a:solidFill>
                  <a:srgbClr val="1A3A5C"/>
                </a:solidFill>
                <a:latin typeface="Segoe UI" panose="020B0502040204020203" pitchFamily="34" charset="0"/>
              </a:rPr>
              <a:t>2. Tecnologías Utilizadas</a:t>
            </a:r>
          </a:p>
          <a:p>
            <a:pPr algn="ctr">
              <a:buNone/>
            </a:pPr>
            <a:endParaRPr lang="es-CO" b="1" i="0" dirty="0">
              <a:solidFill>
                <a:srgbClr val="F0A500"/>
              </a:solidFill>
              <a:effectLst/>
              <a:latin typeface="Segoe UI" panose="020B0502040204020203" pitchFamily="34" charset="0"/>
            </a:endParaRPr>
          </a:p>
          <a:p>
            <a:pPr algn="ctr">
              <a:buNone/>
            </a:pPr>
            <a:endParaRPr lang="es-CO" b="1" dirty="0">
              <a:solidFill>
                <a:srgbClr val="F0A500"/>
              </a:solidFill>
              <a:latin typeface="Segoe UI" panose="020B0502040204020203" pitchFamily="34" charset="0"/>
            </a:endParaRPr>
          </a:p>
          <a:p>
            <a:pPr algn="ctr">
              <a:buNone/>
            </a:pPr>
            <a:endParaRPr lang="es-CO" b="1" i="0" dirty="0">
              <a:solidFill>
                <a:srgbClr val="F0A5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5D3CB9-55DD-8C7E-F8D9-BC0509B3CA3F}"/>
              </a:ext>
            </a:extLst>
          </p:cNvPr>
          <p:cNvSpPr txBox="1"/>
          <p:nvPr/>
        </p:nvSpPr>
        <p:spPr>
          <a:xfrm>
            <a:off x="4842588" y="1838131"/>
            <a:ext cx="1735494" cy="531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80A74E-89FE-7D73-4B73-83231E222755}"/>
              </a:ext>
            </a:extLst>
          </p:cNvPr>
          <p:cNvSpPr txBox="1"/>
          <p:nvPr/>
        </p:nvSpPr>
        <p:spPr>
          <a:xfrm>
            <a:off x="1111508" y="2691105"/>
            <a:ext cx="2676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cap="all" dirty="0">
                <a:solidFill>
                  <a:srgbClr val="1A3A5C"/>
                </a:solidFill>
                <a:latin typeface="Segoe UI" panose="020B0502040204020203" pitchFamily="34" charset="0"/>
              </a:rPr>
              <a:t>Python</a:t>
            </a:r>
            <a:r>
              <a:rPr lang="es-CO" b="1" i="0" dirty="0">
                <a:solidFill>
                  <a:srgbClr val="F0A5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CO" b="1" cap="all" dirty="0">
                <a:solidFill>
                  <a:srgbClr val="1A3A5C"/>
                </a:solidFill>
                <a:latin typeface="Segoe UI" panose="020B0502040204020203" pitchFamily="34" charset="0"/>
              </a:rPr>
              <a:t>3</a:t>
            </a:r>
          </a:p>
          <a:p>
            <a:r>
              <a:rPr lang="es-CO" dirty="0"/>
              <a:t>Lenguaje principal</a:t>
            </a:r>
          </a:p>
          <a:p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520A615-BAE3-81EE-609F-B37B908A5ABB}"/>
              </a:ext>
            </a:extLst>
          </p:cNvPr>
          <p:cNvSpPr txBox="1"/>
          <p:nvPr/>
        </p:nvSpPr>
        <p:spPr>
          <a:xfrm>
            <a:off x="5049805" y="2725443"/>
            <a:ext cx="2092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cap="all" dirty="0" err="1">
                <a:solidFill>
                  <a:srgbClr val="1A3A5C"/>
                </a:solidFill>
                <a:latin typeface="Segoe UI" panose="020B0502040204020203" pitchFamily="34" charset="0"/>
              </a:rPr>
              <a:t>Tkinter</a:t>
            </a:r>
            <a:endParaRPr lang="es-CO" b="1" cap="all" dirty="0">
              <a:solidFill>
                <a:srgbClr val="1A3A5C"/>
              </a:solidFill>
              <a:latin typeface="Segoe UI" panose="020B0502040204020203" pitchFamily="34" charset="0"/>
            </a:endParaRPr>
          </a:p>
          <a:p>
            <a:r>
              <a:rPr lang="es-CO" dirty="0"/>
              <a:t>Interfaz</a:t>
            </a:r>
            <a:r>
              <a:rPr lang="es-CO" b="1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lang="es-CO" dirty="0"/>
              <a:t>gráfica</a:t>
            </a:r>
          </a:p>
          <a:p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2E6273D-C1A4-69C7-B357-BA34ED8783D6}"/>
              </a:ext>
            </a:extLst>
          </p:cNvPr>
          <p:cNvSpPr txBox="1"/>
          <p:nvPr/>
        </p:nvSpPr>
        <p:spPr>
          <a:xfrm>
            <a:off x="8194609" y="2725443"/>
            <a:ext cx="254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cap="all" dirty="0">
                <a:solidFill>
                  <a:srgbClr val="1A3A5C"/>
                </a:solidFill>
                <a:latin typeface="Segoe UI" panose="020B0502040204020203" pitchFamily="34" charset="0"/>
              </a:rPr>
              <a:t>MySQL</a:t>
            </a:r>
          </a:p>
          <a:p>
            <a:r>
              <a:rPr lang="es-CO" dirty="0"/>
              <a:t>Base</a:t>
            </a:r>
            <a:r>
              <a:rPr lang="es-CO" b="0" i="0" dirty="0">
                <a:solidFill>
                  <a:srgbClr val="CDD9E8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CO" dirty="0"/>
              <a:t>de</a:t>
            </a:r>
            <a:r>
              <a:rPr lang="es-CO" b="1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lang="es-CO" dirty="0"/>
              <a:t>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2D0DC83-3B73-B861-F3CF-2F3E0DD8F158}"/>
              </a:ext>
            </a:extLst>
          </p:cNvPr>
          <p:cNvSpPr txBox="1"/>
          <p:nvPr/>
        </p:nvSpPr>
        <p:spPr>
          <a:xfrm>
            <a:off x="5775650" y="4537253"/>
            <a:ext cx="4394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cap="all" dirty="0" err="1">
                <a:solidFill>
                  <a:srgbClr val="1A3A5C"/>
                </a:solidFill>
                <a:latin typeface="Segoe UI" panose="020B0502040204020203" pitchFamily="34" charset="0"/>
              </a:rPr>
              <a:t>Pillow</a:t>
            </a:r>
            <a:endParaRPr lang="es-CO" b="1" cap="all" dirty="0">
              <a:solidFill>
                <a:srgbClr val="1A3A5C"/>
              </a:solidFill>
              <a:latin typeface="Segoe UI" panose="020B0502040204020203" pitchFamily="34" charset="0"/>
            </a:endParaRPr>
          </a:p>
          <a:p>
            <a:r>
              <a:rPr lang="es-CO" dirty="0"/>
              <a:t>Manejo</a:t>
            </a:r>
            <a:r>
              <a:rPr lang="es-CO" b="0" i="0" dirty="0">
                <a:solidFill>
                  <a:srgbClr val="CDD9E8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CO" dirty="0"/>
              <a:t>de imágenes</a:t>
            </a:r>
          </a:p>
          <a:p>
            <a:r>
              <a:rPr lang="es-CO" dirty="0"/>
              <a:t>Exportación a PDF y Excel</a:t>
            </a:r>
          </a:p>
          <a:p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C984DCF-C23E-F68F-4ECA-91ADB7BA26BF}"/>
              </a:ext>
            </a:extLst>
          </p:cNvPr>
          <p:cNvSpPr txBox="1"/>
          <p:nvPr/>
        </p:nvSpPr>
        <p:spPr>
          <a:xfrm>
            <a:off x="2701601" y="4398754"/>
            <a:ext cx="23482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b="1" i="0" dirty="0">
              <a:solidFill>
                <a:srgbClr val="F0A500"/>
              </a:solidFill>
              <a:effectLst/>
              <a:latin typeface="Segoe UI" panose="020B0502040204020203" pitchFamily="34" charset="0"/>
            </a:endParaRPr>
          </a:p>
          <a:p>
            <a:r>
              <a:rPr lang="es-CO" b="1" cap="all" dirty="0" err="1">
                <a:solidFill>
                  <a:srgbClr val="1A3A5C"/>
                </a:solidFill>
                <a:latin typeface="Segoe UI" panose="020B0502040204020203" pitchFamily="34" charset="0"/>
              </a:rPr>
              <a:t>Tkcalendar</a:t>
            </a:r>
            <a:endParaRPr lang="es-CO" b="1" cap="all" dirty="0">
              <a:solidFill>
                <a:srgbClr val="1A3A5C"/>
              </a:solidFill>
              <a:latin typeface="Segoe UI" panose="020B0502040204020203" pitchFamily="34" charset="0"/>
            </a:endParaRPr>
          </a:p>
          <a:p>
            <a:r>
              <a:rPr lang="es-CO" dirty="0"/>
              <a:t>Selección</a:t>
            </a:r>
            <a:r>
              <a:rPr lang="es-CO" b="0" i="0" dirty="0">
                <a:solidFill>
                  <a:srgbClr val="CDD9E8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CO" dirty="0"/>
              <a:t>de</a:t>
            </a:r>
            <a:r>
              <a:rPr lang="es-CO" b="1" dirty="0">
                <a:solidFill>
                  <a:srgbClr val="FFFFFF"/>
                </a:solidFill>
                <a:latin typeface="Segoe UI" panose="020B0502040204020203" pitchFamily="34" charset="0"/>
              </a:rPr>
              <a:t> </a:t>
            </a:r>
            <a:r>
              <a:rPr lang="es-CO" dirty="0"/>
              <a:t>fechas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1262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C6DFC63-ACFE-D11C-863D-AF24A139C19B}"/>
              </a:ext>
            </a:extLst>
          </p:cNvPr>
          <p:cNvSpPr txBox="1"/>
          <p:nvPr/>
        </p:nvSpPr>
        <p:spPr>
          <a:xfrm>
            <a:off x="2164703" y="776646"/>
            <a:ext cx="7240555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es-ES" b="1" i="0" cap="all" dirty="0">
                <a:solidFill>
                  <a:srgbClr val="1A3A5C"/>
                </a:solidFill>
                <a:effectLst/>
                <a:latin typeface="Segoe UI" panose="020B0502040204020203" pitchFamily="34" charset="0"/>
              </a:rPr>
              <a:t>ConstruData</a:t>
            </a:r>
          </a:p>
          <a:p>
            <a:pPr algn="ctr">
              <a:spcAft>
                <a:spcPts val="1500"/>
              </a:spcAft>
              <a:buNone/>
            </a:pPr>
            <a:r>
              <a:rPr lang="es-ES" b="1" i="0" dirty="0">
                <a:solidFill>
                  <a:srgbClr val="1A3A5C"/>
                </a:solidFill>
                <a:effectLst/>
                <a:latin typeface="Segoe UI" panose="020B0502040204020203" pitchFamily="34" charset="0"/>
              </a:rPr>
              <a:t>3. Arquitectura del Sistema</a:t>
            </a:r>
          </a:p>
          <a:p>
            <a:pPr algn="ctr">
              <a:buNone/>
            </a:pPr>
            <a:endParaRPr lang="es-ES" b="0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862B990-B383-9760-D79A-C65E19A1B03F}"/>
              </a:ext>
            </a:extLst>
          </p:cNvPr>
          <p:cNvSpPr txBox="1"/>
          <p:nvPr/>
        </p:nvSpPr>
        <p:spPr>
          <a:xfrm>
            <a:off x="1735494" y="2899873"/>
            <a:ext cx="2267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FFFF"/>
                </a:solidFill>
                <a:latin typeface="Segoe UI" panose="020B0502040204020203" pitchFamily="34" charset="0"/>
              </a:rPr>
              <a:t>🗄️</a:t>
            </a:r>
          </a:p>
          <a:p>
            <a:r>
              <a:rPr lang="es-ES" b="1" dirty="0">
                <a:solidFill>
                  <a:srgbClr val="1A3A5C"/>
                </a:solidFill>
                <a:latin typeface="Segoe UI" panose="020B0502040204020203" pitchFamily="34" charset="0"/>
              </a:rPr>
              <a:t>Modelo</a:t>
            </a:r>
          </a:p>
          <a:p>
            <a:r>
              <a:rPr lang="es-ES" dirty="0"/>
              <a:t>Manejo</a:t>
            </a:r>
            <a:r>
              <a:rPr lang="es-ES" dirty="0">
                <a:solidFill>
                  <a:srgbClr val="555555"/>
                </a:solidFill>
                <a:latin typeface="Segoe UI" panose="020B0502040204020203" pitchFamily="34" charset="0"/>
              </a:rPr>
              <a:t> </a:t>
            </a:r>
            <a:r>
              <a:rPr lang="es-ES" dirty="0"/>
              <a:t>de base de datos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D7B84AA-CE2C-80DC-F8C4-EF0C90E17EB5}"/>
              </a:ext>
            </a:extLst>
          </p:cNvPr>
          <p:cNvSpPr txBox="1"/>
          <p:nvPr/>
        </p:nvSpPr>
        <p:spPr>
          <a:xfrm>
            <a:off x="8266924" y="2899873"/>
            <a:ext cx="2276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FFFF"/>
                </a:solidFill>
                <a:latin typeface="Segoe UI" panose="020B0502040204020203" pitchFamily="34" charset="0"/>
              </a:rPr>
              <a:t>🖥️</a:t>
            </a:r>
          </a:p>
          <a:p>
            <a:r>
              <a:rPr lang="es-ES" b="1" dirty="0">
                <a:solidFill>
                  <a:srgbClr val="1A3A5C"/>
                </a:solidFill>
                <a:latin typeface="Segoe UI" panose="020B0502040204020203" pitchFamily="34" charset="0"/>
              </a:rPr>
              <a:t>Vista</a:t>
            </a:r>
          </a:p>
          <a:p>
            <a:r>
              <a:rPr lang="es-ES" dirty="0"/>
              <a:t>Interfaz</a:t>
            </a:r>
            <a:r>
              <a:rPr lang="es-ES" dirty="0">
                <a:solidFill>
                  <a:srgbClr val="555555"/>
                </a:solidFill>
                <a:latin typeface="Segoe UI" panose="020B0502040204020203" pitchFamily="34" charset="0"/>
              </a:rPr>
              <a:t> </a:t>
            </a:r>
            <a:r>
              <a:rPr lang="es-ES" dirty="0"/>
              <a:t>gráfica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D58AF56-6BD6-C126-2CB8-F3E26F38AB5C}"/>
              </a:ext>
            </a:extLst>
          </p:cNvPr>
          <p:cNvSpPr txBox="1"/>
          <p:nvPr/>
        </p:nvSpPr>
        <p:spPr>
          <a:xfrm>
            <a:off x="5256245" y="2899873"/>
            <a:ext cx="16795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1A3A5C"/>
                </a:solidFill>
                <a:latin typeface="Segoe UI" panose="020B0502040204020203" pitchFamily="34" charset="0"/>
              </a:rPr>
              <a:t>🎮 Controlador</a:t>
            </a:r>
          </a:p>
          <a:p>
            <a:r>
              <a:rPr lang="es-ES" dirty="0"/>
              <a:t>Lógica</a:t>
            </a:r>
            <a:r>
              <a:rPr lang="es-ES" dirty="0">
                <a:solidFill>
                  <a:srgbClr val="555555"/>
                </a:solidFill>
                <a:latin typeface="Segoe UI" panose="020B0502040204020203" pitchFamily="34" charset="0"/>
              </a:rPr>
              <a:t> </a:t>
            </a:r>
            <a:r>
              <a:rPr lang="es-ES" dirty="0"/>
              <a:t>de negocio</a:t>
            </a:r>
          </a:p>
          <a:p>
            <a:r>
              <a:rPr lang="es-ES" dirty="0"/>
              <a:t>MVC</a:t>
            </a:r>
          </a:p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8C479B-EC9D-8EB3-46C6-0300366233E2}"/>
              </a:ext>
            </a:extLst>
          </p:cNvPr>
          <p:cNvSpPr txBox="1"/>
          <p:nvPr/>
        </p:nvSpPr>
        <p:spPr>
          <a:xfrm>
            <a:off x="2094722" y="5729039"/>
            <a:ext cx="8257591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s-ES" b="1" dirty="0">
                <a:solidFill>
                  <a:srgbClr val="1A3A5C"/>
                </a:solidFill>
                <a:latin typeface="Segoe UI" panose="020B0502040204020203" pitchFamily="34" charset="0"/>
              </a:rPr>
              <a:t>Patrón de arquitectura de software</a:t>
            </a:r>
          </a:p>
          <a:p>
            <a:pPr algn="ctr">
              <a:spcBef>
                <a:spcPts val="900"/>
              </a:spcBef>
              <a:buNone/>
            </a:pPr>
            <a:r>
              <a:rPr lang="es-ES" dirty="0">
                <a:solidFill>
                  <a:srgbClr val="FFFFFF"/>
                </a:solidFill>
                <a:latin typeface="Segoe UI" panose="020B0502040204020203" pitchFamily="34" charset="0"/>
              </a:rPr>
              <a:t>💡 </a:t>
            </a:r>
            <a:r>
              <a:rPr lang="es-ES" dirty="0"/>
              <a:t>Permite mejor organización, mantenimiento y escalabilidad del sistema</a:t>
            </a:r>
          </a:p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3024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56C1BC2-0A7A-E043-5E7B-61D1BCFA8273}"/>
              </a:ext>
            </a:extLst>
          </p:cNvPr>
          <p:cNvSpPr txBox="1"/>
          <p:nvPr/>
        </p:nvSpPr>
        <p:spPr>
          <a:xfrm>
            <a:off x="604934" y="432732"/>
            <a:ext cx="10982131" cy="548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s-ES" b="1" i="0" cap="all" dirty="0">
                <a:solidFill>
                  <a:srgbClr val="1A3A5C"/>
                </a:solidFill>
                <a:effectLst/>
                <a:latin typeface="Segoe UI" panose="020B0502040204020203" pitchFamily="34" charset="0"/>
              </a:rPr>
              <a:t>ConstruData</a:t>
            </a:r>
          </a:p>
          <a:p>
            <a:pPr algn="l">
              <a:spcAft>
                <a:spcPts val="1200"/>
              </a:spcAft>
              <a:buNone/>
            </a:pPr>
            <a:r>
              <a:rPr lang="es-ES" b="1" i="0" dirty="0">
                <a:solidFill>
                  <a:srgbClr val="1A3A5C"/>
                </a:solidFill>
                <a:effectLst/>
                <a:latin typeface="Segoe UI" panose="020B0502040204020203" pitchFamily="34" charset="0"/>
              </a:rPr>
              <a:t>4. Conclusiones y Aprendizajes</a:t>
            </a:r>
          </a:p>
          <a:p>
            <a:pPr algn="l">
              <a:spcBef>
                <a:spcPts val="150"/>
              </a:spcBef>
              <a:buNone/>
            </a:pPr>
            <a:endParaRPr lang="es-ES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1A3A5C"/>
                </a:solidFill>
                <a:effectLst/>
                <a:latin typeface="Segoe UI" panose="020B0502040204020203" pitchFamily="34" charset="0"/>
              </a:rPr>
              <a:t>Arquitectura MVC</a:t>
            </a:r>
          </a:p>
          <a:p>
            <a:pPr algn="l">
              <a:buNone/>
            </a:pPr>
            <a:r>
              <a:rPr lang="es-ES" dirty="0">
                <a:solidFill>
                  <a:srgbClr val="FFFFFF"/>
                </a:solidFill>
                <a:latin typeface="Segoe UI" panose="020B0502040204020203" pitchFamily="34" charset="0"/>
              </a:rPr>
              <a:t>Comprender e implementar el patrón MVC permitió estructurar el proyecto de forma ordenada, separando responsabilidades y facilitando el mantenimiento del código a largo plazo</a:t>
            </a:r>
            <a:r>
              <a:rPr lang="es-ES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pPr algn="l">
              <a:spcBef>
                <a:spcPts val="150"/>
              </a:spcBef>
              <a:buNone/>
            </a:pPr>
            <a:endParaRPr lang="es-ES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1A3A5C"/>
                </a:solidFill>
                <a:effectLst/>
                <a:latin typeface="Segoe UI" panose="020B0502040204020203" pitchFamily="34" charset="0"/>
              </a:rPr>
              <a:t>Integración de tecnologías</a:t>
            </a:r>
          </a:p>
          <a:p>
            <a:pPr algn="l">
              <a:buNone/>
            </a:pPr>
            <a:r>
              <a:rPr lang="es-ES" dirty="0">
                <a:solidFill>
                  <a:srgbClr val="FFFFFF"/>
                </a:solidFill>
                <a:latin typeface="Segoe UI" panose="020B0502040204020203" pitchFamily="34" charset="0"/>
              </a:rPr>
              <a:t>La combinación de Python, </a:t>
            </a:r>
            <a:r>
              <a:rPr lang="es-ES" dirty="0" err="1">
                <a:solidFill>
                  <a:srgbClr val="FFFFFF"/>
                </a:solidFill>
                <a:latin typeface="Segoe UI" panose="020B0502040204020203" pitchFamily="34" charset="0"/>
              </a:rPr>
              <a:t>Tkinter</a:t>
            </a:r>
            <a:r>
              <a:rPr lang="es-ES" dirty="0">
                <a:solidFill>
                  <a:srgbClr val="FFFFFF"/>
                </a:solidFill>
                <a:latin typeface="Segoe UI" panose="020B0502040204020203" pitchFamily="34" charset="0"/>
              </a:rPr>
              <a:t>, MySQL y librerías externas demostró que es posible construir soluciones robustas integrando múltiples herramientas de manera coherente.</a:t>
            </a:r>
          </a:p>
          <a:p>
            <a:pPr algn="l">
              <a:spcBef>
                <a:spcPts val="150"/>
              </a:spcBef>
              <a:buNone/>
            </a:pPr>
            <a:endParaRPr lang="es-ES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1A3A5C"/>
                </a:solidFill>
                <a:effectLst/>
                <a:latin typeface="Segoe UI" panose="020B0502040204020203" pitchFamily="34" charset="0"/>
              </a:rPr>
              <a:t>Bases de datos reales</a:t>
            </a:r>
          </a:p>
          <a:p>
            <a:r>
              <a:rPr lang="es-ES" dirty="0">
                <a:solidFill>
                  <a:srgbClr val="FFFFFF"/>
                </a:solidFill>
                <a:latin typeface="Segoe UI" panose="020B0502040204020203" pitchFamily="34" charset="0"/>
              </a:rPr>
              <a:t>Trabajar con MySQL en un contexto real implicó diseñar esquemas relacionales, manejar consultas SQL y garantizar la integridad de los datos del sistema.</a:t>
            </a:r>
          </a:p>
          <a:p>
            <a:pPr algn="l">
              <a:spcBef>
                <a:spcPts val="150"/>
              </a:spcBef>
              <a:buNone/>
            </a:pPr>
            <a:endParaRPr lang="es-ES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1A3A5C"/>
                </a:solidFill>
                <a:effectLst/>
                <a:latin typeface="Segoe UI" panose="020B0502040204020203" pitchFamily="34" charset="0"/>
              </a:rPr>
              <a:t>Interfaces gráficas funcionales</a:t>
            </a:r>
          </a:p>
          <a:p>
            <a:pPr>
              <a:buNone/>
            </a:pPr>
            <a:r>
              <a:rPr lang="es-ES" dirty="0">
                <a:solidFill>
                  <a:srgbClr val="FFFFFF"/>
                </a:solidFill>
                <a:latin typeface="Segoe UI" panose="020B0502040204020203" pitchFamily="34" charset="0"/>
              </a:rPr>
              <a:t>El desarrollo con </a:t>
            </a:r>
            <a:r>
              <a:rPr lang="es-ES" dirty="0" err="1">
                <a:solidFill>
                  <a:srgbClr val="FFFFFF"/>
                </a:solidFill>
                <a:latin typeface="Segoe UI" panose="020B0502040204020203" pitchFamily="34" charset="0"/>
              </a:rPr>
              <a:t>Tkinter</a:t>
            </a:r>
            <a:r>
              <a:rPr lang="es-ES" dirty="0">
                <a:solidFill>
                  <a:srgbClr val="FFFFFF"/>
                </a:solidFill>
                <a:latin typeface="Segoe UI" panose="020B0502040204020203" pitchFamily="34" charset="0"/>
              </a:rPr>
              <a:t> permitió crear ventanas, formularios y controles interactivos que ofrecen una experiencia</a:t>
            </a:r>
          </a:p>
        </p:txBody>
      </p:sp>
    </p:spTree>
    <p:extLst>
      <p:ext uri="{BB962C8B-B14F-4D97-AF65-F5344CB8AC3E}">
        <p14:creationId xmlns:p14="http://schemas.microsoft.com/office/powerpoint/2010/main" val="378184960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TM02900771[[fn=Segmento]]</Template>
  <TotalTime>35</TotalTime>
  <Words>324</Words>
  <Application>Microsoft Office PowerPoint</Application>
  <PresentationFormat>Panorámica</PresentationFormat>
  <Paragraphs>68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Segoe UI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DARNEY ALZATE RIOS</dc:creator>
  <cp:lastModifiedBy>DARNEY ALZATE RIOS</cp:lastModifiedBy>
  <cp:revision>1</cp:revision>
  <dcterms:created xsi:type="dcterms:W3CDTF">2026-04-05T19:48:29Z</dcterms:created>
  <dcterms:modified xsi:type="dcterms:W3CDTF">2026-04-05T20:23:51Z</dcterms:modified>
</cp:coreProperties>
</file>